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m+G/obZrgcqH8rcpIiHX9YN0+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5f24bda4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5f24bda4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5f24bda4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5f24bda4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5f24bda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b5f24bda46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810230b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810230bb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810230b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810230bb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5f24bda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5f24bda46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5f24bda4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5f24bda46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5f24bda4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minimization is explicitly approximated: it checks only certain production rules (up to a fixed size) and relies on an ordered comparison of constraints. When multiple constraints are borderline equivalent, small differences in evaluation order can lead to slightly different minimal sets (±1–2 constraints). This does not affect the overall results.</a:t>
            </a:r>
            <a:endParaRPr/>
          </a:p>
        </p:txBody>
      </p:sp>
      <p:sp>
        <p:nvSpPr>
          <p:cNvPr id="137" name="Google Shape;137;g3b5f24bda46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5f24bda4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5f24bda46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5f24bda4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5f24bda46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5f24bda4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5f24bda46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B5394"/>
                </a:solidFill>
              </a:rPr>
              <a:t>VU Business Intelligence II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B5394"/>
                </a:solidFill>
              </a:rPr>
              <a:t>Replication Study: </a:t>
            </a:r>
            <a:r>
              <a:rPr b="1" lang="en-US" sz="3200">
                <a:solidFill>
                  <a:srgbClr val="0B5394"/>
                </a:solidFill>
              </a:rPr>
              <a:t>Mining Behavioral Patterns for Conformance Diagnostics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B5394"/>
                </a:solidFill>
              </a:rPr>
              <a:t>Group Member:</a:t>
            </a:r>
            <a:endParaRPr>
              <a:solidFill>
                <a:srgbClr val="0B5394"/>
              </a:solidFill>
            </a:endParaRPr>
          </a:p>
          <a:p>
            <a:pPr indent="-292100" lvl="0" marL="457200" rtl="0" algn="l">
              <a:spcBef>
                <a:spcPts val="640"/>
              </a:spcBef>
              <a:spcAft>
                <a:spcPts val="0"/>
              </a:spcAft>
              <a:buClr>
                <a:srgbClr val="0B5394"/>
              </a:buClr>
              <a:buSzPts val="1000"/>
              <a:buChar char="●"/>
            </a:pPr>
            <a:r>
              <a:rPr lang="en-US" sz="2400">
                <a:solidFill>
                  <a:srgbClr val="0B5394"/>
                </a:solidFill>
              </a:rPr>
              <a:t>Khalifa Nikzad (12437813)</a:t>
            </a:r>
            <a:endParaRPr sz="2400">
              <a:solidFill>
                <a:srgbClr val="0B5394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000"/>
              <a:buChar char="●"/>
            </a:pPr>
            <a:r>
              <a:rPr lang="en-US" sz="2400">
                <a:solidFill>
                  <a:srgbClr val="0B5394"/>
                </a:solidFill>
              </a:rPr>
              <a:t>Fatemehsadat Sepehrihosseini (12350114)</a:t>
            </a:r>
            <a:endParaRPr sz="2400">
              <a:solidFill>
                <a:srgbClr val="0B5394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000"/>
              <a:buChar char="●"/>
            </a:pPr>
            <a:r>
              <a:rPr lang="en-US" sz="2400">
                <a:solidFill>
                  <a:srgbClr val="0B5394"/>
                </a:solidFill>
              </a:rPr>
              <a:t>Aziz Massomi (12244794)</a:t>
            </a:r>
            <a:endParaRPr sz="2400">
              <a:solidFill>
                <a:srgbClr val="0B5394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000"/>
              <a:buChar char="●"/>
            </a:pPr>
            <a:r>
              <a:rPr lang="en-US" sz="2400">
                <a:solidFill>
                  <a:srgbClr val="0B5394"/>
                </a:solidFill>
              </a:rPr>
              <a:t>Shogofa Nawrozi</a:t>
            </a:r>
            <a:endParaRPr sz="2400">
              <a:solidFill>
                <a:srgbClr val="0B5394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000"/>
              <a:buChar char="●"/>
            </a:pPr>
            <a:r>
              <a:rPr lang="en-US" sz="2400">
                <a:solidFill>
                  <a:srgbClr val="0B5394"/>
                </a:solidFill>
              </a:rPr>
              <a:t>Irdi Kuka (12407107)</a:t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B5394"/>
                </a:solidFill>
              </a:rPr>
              <a:t>Winter semester 2025 </a:t>
            </a:r>
            <a:endParaRPr sz="2400">
              <a:solidFill>
                <a:srgbClr val="0B5394"/>
              </a:solidFill>
            </a:endParaRPr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f24bda46_0_4"/>
          <p:cNvSpPr txBox="1"/>
          <p:nvPr>
            <p:ph idx="1" type="body"/>
          </p:nvPr>
        </p:nvSpPr>
        <p:spPr>
          <a:xfrm>
            <a:off x="457200" y="208348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Process mining compares real executions (logs) with process models</a:t>
            </a:r>
            <a:br>
              <a:rPr lang="en-US" sz="3000"/>
            </a:br>
            <a:endParaRPr sz="30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Deviations are common in real-life processes</a:t>
            </a:r>
            <a:br>
              <a:rPr lang="en-US" sz="3000"/>
            </a:br>
            <a:endParaRPr sz="30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The challenge:</a:t>
            </a:r>
            <a:br>
              <a:rPr lang="en-US" sz="3000"/>
            </a:br>
            <a:r>
              <a:rPr lang="en-US" sz="2800"/>
              <a:t>How can we detect and explain deviations in a meaningful way?</a:t>
            </a:r>
            <a:endParaRPr i="1" sz="309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B5394"/>
                </a:solidFill>
              </a:rPr>
              <a:t>Winter semester 2025 </a:t>
            </a:r>
            <a:endParaRPr sz="2400">
              <a:solidFill>
                <a:srgbClr val="0B5394"/>
              </a:solidFill>
            </a:endParaRPr>
          </a:p>
        </p:txBody>
      </p:sp>
      <p:pic>
        <p:nvPicPr>
          <p:cNvPr id="91" name="Google Shape;91;g3b5f24bda46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b5f24bda46_0_4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Paper Overview – Context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5f24bda46_0_12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810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Problem: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Many deviations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Hard to explain them clearly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Authors’ idea: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9600">
                <a:latin typeface="Arial"/>
                <a:ea typeface="Arial"/>
                <a:cs typeface="Arial"/>
                <a:sym typeface="Arial"/>
              </a:rPr>
              <a:t>behavioral constraints</a:t>
            </a:r>
            <a:endParaRPr b="1" sz="9600">
              <a:latin typeface="Arial"/>
              <a:ea typeface="Arial"/>
              <a:cs typeface="Arial"/>
              <a:sym typeface="Arial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Automatically discover patterns that explain deviations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Key novelty (simple):</a:t>
            </a:r>
            <a:endParaRPr b="1" sz="9600">
              <a:latin typeface="Arial"/>
              <a:ea typeface="Arial"/>
              <a:cs typeface="Arial"/>
              <a:sym typeface="Arial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Not only </a:t>
            </a:r>
            <a:r>
              <a:rPr i="1" lang="en-US" sz="9600">
                <a:latin typeface="Arial"/>
                <a:ea typeface="Arial"/>
                <a:cs typeface="Arial"/>
                <a:sym typeface="Arial"/>
              </a:rPr>
              <a:t>detect</a:t>
            </a:r>
            <a:r>
              <a:rPr lang="en-US" sz="9600">
                <a:latin typeface="Arial"/>
                <a:ea typeface="Arial"/>
                <a:cs typeface="Arial"/>
                <a:sym typeface="Arial"/>
              </a:rPr>
              <a:t> deviations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238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Also </a:t>
            </a:r>
            <a:r>
              <a:rPr i="1" lang="en-US" sz="9600">
                <a:latin typeface="Arial"/>
                <a:ea typeface="Arial"/>
                <a:cs typeface="Arial"/>
                <a:sym typeface="Arial"/>
              </a:rPr>
              <a:t>explain</a:t>
            </a:r>
            <a:r>
              <a:rPr lang="en-US" sz="9600">
                <a:latin typeface="Arial"/>
                <a:ea typeface="Arial"/>
                <a:cs typeface="Arial"/>
                <a:sym typeface="Arial"/>
              </a:rPr>
              <a:t> them in a structured way</a:t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98" name="Google Shape;98;g3b5f24bda46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b5f24bda46_0_12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Paper Overview: Problem &amp; Idea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5f24bda46_0_23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Input: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Process model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Event log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Steps: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Generate candidate constraints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Check which constraints hold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Minimize constraints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600">
                <a:latin typeface="Arial"/>
                <a:ea typeface="Arial"/>
                <a:cs typeface="Arial"/>
                <a:sym typeface="Arial"/>
              </a:rPr>
              <a:t>Use them to explain deviations</a:t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05" name="Google Shape;105;g3b5f24bda46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b5f24bda46_0_23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Paper Overview: How It Works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810230bb6_0_0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5000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7647">
                <a:latin typeface="Arial"/>
                <a:ea typeface="Arial"/>
                <a:cs typeface="Arial"/>
                <a:sym typeface="Arial"/>
              </a:rPr>
              <a:t>constraint</a:t>
            </a:r>
            <a:r>
              <a:rPr lang="en-US" sz="7647"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lang="en-US" sz="7647">
                <a:latin typeface="Arial"/>
                <a:ea typeface="Arial"/>
                <a:cs typeface="Arial"/>
                <a:sym typeface="Arial"/>
              </a:rPr>
              <a:t>rule about how activities should happen</a:t>
            </a:r>
            <a:r>
              <a:rPr lang="en-US" sz="7647">
                <a:latin typeface="Arial"/>
                <a:ea typeface="Arial"/>
                <a:cs typeface="Arial"/>
                <a:sym typeface="Arial"/>
              </a:rPr>
              <a:t> in a process.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-3500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It describes </a:t>
            </a:r>
            <a:r>
              <a:rPr b="1" lang="en-US" sz="7647">
                <a:latin typeface="Arial"/>
                <a:ea typeface="Arial"/>
                <a:cs typeface="Arial"/>
                <a:sym typeface="Arial"/>
              </a:rPr>
              <a:t>expected behavior</a:t>
            </a:r>
            <a:r>
              <a:rPr lang="en-US" sz="7647">
                <a:latin typeface="Arial"/>
                <a:ea typeface="Arial"/>
                <a:cs typeface="Arial"/>
                <a:sym typeface="Arial"/>
              </a:rPr>
              <a:t>, not a single trace.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-3500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Constraints are used to: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-35000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detect deviations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-350001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explain why a process execution is wrong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847">
                <a:latin typeface="Arial"/>
                <a:ea typeface="Arial"/>
                <a:cs typeface="Arial"/>
                <a:sym typeface="Arial"/>
              </a:rPr>
              <a:t>Simple example</a:t>
            </a:r>
            <a:endParaRPr b="1" sz="7847">
              <a:latin typeface="Arial"/>
              <a:ea typeface="Arial"/>
              <a:cs typeface="Arial"/>
              <a:sym typeface="Arial"/>
            </a:endParaRPr>
          </a:p>
          <a:p>
            <a:pPr indent="-35000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Activity A: Send fine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-35000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Activity B: Pay fine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647">
                <a:latin typeface="Arial"/>
                <a:ea typeface="Arial"/>
                <a:cs typeface="Arial"/>
                <a:sym typeface="Arial"/>
              </a:rPr>
              <a:t>Constraint:</a:t>
            </a:r>
            <a:br>
              <a:rPr b="1" lang="en-US" sz="7647">
                <a:latin typeface="Arial"/>
                <a:ea typeface="Arial"/>
                <a:cs typeface="Arial"/>
                <a:sym typeface="Arial"/>
              </a:rPr>
            </a:br>
            <a:r>
              <a:rPr lang="en-US" sz="7647">
                <a:latin typeface="Arial"/>
                <a:ea typeface="Arial"/>
                <a:cs typeface="Arial"/>
                <a:sym typeface="Arial"/>
              </a:rPr>
              <a:t> “If Send fine happens, then Pay fine should eventually happen.”</a:t>
            </a:r>
            <a:endParaRPr sz="764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7647">
                <a:latin typeface="Arial"/>
                <a:ea typeface="Arial"/>
                <a:cs typeface="Arial"/>
                <a:sym typeface="Arial"/>
              </a:rPr>
              <a:t>If this rule is broken → we found a </a:t>
            </a:r>
            <a:r>
              <a:rPr b="1" lang="en-US" sz="7647">
                <a:latin typeface="Arial"/>
                <a:ea typeface="Arial"/>
                <a:cs typeface="Arial"/>
                <a:sym typeface="Arial"/>
              </a:rPr>
              <a:t>deviation</a:t>
            </a:r>
            <a:r>
              <a:rPr lang="en-US" sz="7647">
                <a:latin typeface="Arial"/>
                <a:ea typeface="Arial"/>
                <a:cs typeface="Arial"/>
                <a:sym typeface="Arial"/>
              </a:rPr>
              <a:t>.</a:t>
            </a:r>
            <a:endParaRPr sz="1614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12" name="Google Shape;112;g3b810230bb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b810230bb6_0_0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What do we mean by a Constraint?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810230bb6_0_9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6823">
                <a:latin typeface="Arial"/>
                <a:ea typeface="Arial"/>
                <a:cs typeface="Arial"/>
                <a:sym typeface="Arial"/>
              </a:rPr>
              <a:t>Table 4 — Performance</a:t>
            </a:r>
            <a:endParaRPr b="1"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Constraints are treated as </a:t>
            </a:r>
            <a:r>
              <a:rPr b="1" lang="en-US" sz="6823">
                <a:latin typeface="Arial"/>
                <a:ea typeface="Arial"/>
                <a:cs typeface="Arial"/>
                <a:sym typeface="Arial"/>
              </a:rPr>
              <a:t>candidates</a:t>
            </a:r>
            <a:endParaRPr b="1"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The system: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generates many possible rules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removes invalid and redundant ones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Goal: measure </a:t>
            </a:r>
            <a:r>
              <a:rPr b="1" lang="en-US" sz="6823">
                <a:latin typeface="Arial"/>
                <a:ea typeface="Arial"/>
                <a:cs typeface="Arial"/>
                <a:sym typeface="Arial"/>
              </a:rPr>
              <a:t>scalability and runtime</a:t>
            </a:r>
            <a:endParaRPr b="1" sz="682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6823">
                <a:latin typeface="Arial"/>
                <a:ea typeface="Arial"/>
                <a:cs typeface="Arial"/>
                <a:sym typeface="Arial"/>
              </a:rPr>
              <a:t>Table 5 — Diagnostics</a:t>
            </a:r>
            <a:endParaRPr b="1"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Constraints are used as </a:t>
            </a:r>
            <a:r>
              <a:rPr b="1" lang="en-US" sz="6823">
                <a:latin typeface="Arial"/>
                <a:ea typeface="Arial"/>
                <a:cs typeface="Arial"/>
                <a:sym typeface="Arial"/>
              </a:rPr>
              <a:t>explanations</a:t>
            </a:r>
            <a:endParaRPr b="1"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The system checks: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which constraints are violated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how many deviations are explained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Goal: measure </a:t>
            </a:r>
            <a:r>
              <a:rPr b="1" lang="en-US" sz="6823">
                <a:latin typeface="Arial"/>
                <a:ea typeface="Arial"/>
                <a:cs typeface="Arial"/>
                <a:sym typeface="Arial"/>
              </a:rPr>
              <a:t>explanation quality</a:t>
            </a:r>
            <a:endParaRPr b="1" sz="682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7023">
                <a:latin typeface="Arial"/>
                <a:ea typeface="Arial"/>
                <a:cs typeface="Arial"/>
                <a:sym typeface="Arial"/>
              </a:rPr>
              <a:t>Key idea</a:t>
            </a:r>
            <a:endParaRPr b="1" sz="70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Table 4 → How expensive is it to find rules?</a:t>
            </a:r>
            <a:endParaRPr sz="6823">
              <a:latin typeface="Arial"/>
              <a:ea typeface="Arial"/>
              <a:cs typeface="Arial"/>
              <a:sym typeface="Arial"/>
            </a:endParaRPr>
          </a:p>
          <a:p>
            <a:pPr indent="-3369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6823">
                <a:latin typeface="Arial"/>
                <a:ea typeface="Arial"/>
                <a:cs typeface="Arial"/>
                <a:sym typeface="Arial"/>
              </a:rPr>
              <a:t>Table 5 → How useful are these rules to explain deviations?</a:t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19" name="Google Shape;119;g3b810230bb6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b810230bb6_0_9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Role of Constraints in the Evaluation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5f24bda46_0_50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7226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Two datasets: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Road Fines (RF)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BPI-15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Different constraint sizes: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k = 2, 3, 4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Two template sets: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ALL templates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Γ-invariant (SCALABLE) templates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9050">
                <a:latin typeface="Arial"/>
                <a:ea typeface="Arial"/>
                <a:cs typeface="Arial"/>
                <a:sym typeface="Arial"/>
              </a:rPr>
              <a:t>Paper evaluates:</a:t>
            </a:r>
            <a:endParaRPr b="1"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Runtime &amp; scalability (Table 4)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-3722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50">
                <a:latin typeface="Arial"/>
                <a:ea typeface="Arial"/>
                <a:cs typeface="Arial"/>
                <a:sym typeface="Arial"/>
              </a:rPr>
              <a:t>Diagnostic quality (Table 5)</a:t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26" name="Google Shape;126;g3b5f24bda46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b5f24bda46_0_50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Evaluation Setup in the Paper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5f24bda46_0_83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8519">
                <a:latin typeface="Arial"/>
                <a:ea typeface="Arial"/>
                <a:cs typeface="Arial"/>
                <a:sym typeface="Arial"/>
              </a:rPr>
              <a:t>What the authors provided</a:t>
            </a:r>
            <a:endParaRPr b="1"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Executable Python implementation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Event logs and constraint libraries in JSON format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8519">
                <a:latin typeface="Arial"/>
                <a:ea typeface="Arial"/>
                <a:cs typeface="Arial"/>
                <a:sym typeface="Arial"/>
              </a:rPr>
              <a:t>How we replicated the experiments</a:t>
            </a:r>
            <a:endParaRPr b="1"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Used the same datasets and template repositories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Ran the experiments for k = 2, 3, and 4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Collected both performance and diagnostic outputs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US" sz="8519">
                <a:latin typeface="Arial"/>
                <a:ea typeface="Arial"/>
                <a:cs typeface="Arial"/>
                <a:sym typeface="Arial"/>
              </a:rPr>
              <a:t>Main challenges</a:t>
            </a:r>
            <a:endParaRPr b="1"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Experiments become very slow for larger k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High memory and computation cost</a:t>
            </a:r>
            <a:endParaRPr sz="8519">
              <a:latin typeface="Arial"/>
              <a:ea typeface="Arial"/>
              <a:cs typeface="Arial"/>
              <a:sym typeface="Arial"/>
            </a:endParaRPr>
          </a:p>
          <a:p>
            <a:pPr indent="-36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8519">
                <a:latin typeface="Arial"/>
                <a:ea typeface="Arial"/>
                <a:cs typeface="Arial"/>
                <a:sym typeface="Arial"/>
              </a:rPr>
              <a:t>Careful setup was needed to avoid re-running expensive steps</a:t>
            </a:r>
            <a:endParaRPr sz="1646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33" name="Google Shape;133;g3b5f24bda46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b5f24bda46_0_83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Replication Setup &amp; Experience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5f24bda46_0_99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849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As k increases: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Number of constraints increases rapidly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Runtime increases strongly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Γ-invariant templates: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Much faster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Much fewer constraints</a:t>
            </a:r>
            <a:endParaRPr sz="106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40" name="Google Shape;140;g3b5f24bda46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b5f24bda46_0_99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Replication Results (Table 4)</a:t>
            </a:r>
            <a:endParaRPr sz="3600">
              <a:solidFill>
                <a:srgbClr val="0B5394"/>
              </a:solidFill>
            </a:endParaRPr>
          </a:p>
        </p:txBody>
      </p:sp>
      <p:pic>
        <p:nvPicPr>
          <p:cNvPr id="142" name="Google Shape;142;g3b5f24bda46_0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3019" y="4098436"/>
            <a:ext cx="9144001" cy="2297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5f24bda46_0_108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849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Diagnostic behavior matches the pape</a:t>
            </a:r>
            <a:r>
              <a:rPr lang="en-US" sz="9850">
                <a:latin typeface="Arial"/>
                <a:ea typeface="Arial"/>
                <a:cs typeface="Arial"/>
                <a:sym typeface="Arial"/>
              </a:rPr>
              <a:t>r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More constraints → richer explanations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Γ-invariant templates: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Slightly fewer explanations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-38496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9850">
                <a:latin typeface="Arial"/>
                <a:ea typeface="Arial"/>
                <a:cs typeface="Arial"/>
                <a:sym typeface="Arial"/>
              </a:rPr>
              <a:t>Still good diagnostic quality</a:t>
            </a:r>
            <a:endParaRPr sz="98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48" name="Google Shape;148;g3b5f24bda46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b5f24bda46_0_108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Replication Results (Table 5)</a:t>
            </a:r>
            <a:endParaRPr sz="3600">
              <a:solidFill>
                <a:srgbClr val="0B5394"/>
              </a:solidFill>
            </a:endParaRPr>
          </a:p>
        </p:txBody>
      </p:sp>
      <p:pic>
        <p:nvPicPr>
          <p:cNvPr id="150" name="Google Shape;150;g3b5f24bda46_0_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80501"/>
            <a:ext cx="9143999" cy="1306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f24bda46_0_118"/>
          <p:cNvSpPr txBox="1"/>
          <p:nvPr>
            <p:ph idx="1" type="body"/>
          </p:nvPr>
        </p:nvSpPr>
        <p:spPr>
          <a:xfrm>
            <a:off x="457200" y="2129509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371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We intentionally kept the diagnostic verification step enabled during all runs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This allowed us to measure </a:t>
            </a:r>
            <a:r>
              <a:rPr b="1" lang="en-US" sz="8986">
                <a:latin typeface="Arial"/>
                <a:ea typeface="Arial"/>
                <a:cs typeface="Arial"/>
                <a:sym typeface="Arial"/>
              </a:rPr>
              <a:t>end-to-end execution cost</a:t>
            </a:r>
            <a:r>
              <a:rPr lang="en-US" sz="8986">
                <a:latin typeface="Arial"/>
                <a:ea typeface="Arial"/>
                <a:cs typeface="Arial"/>
                <a:sym typeface="Arial"/>
              </a:rPr>
              <a:t>, not only discovery time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We analyzed how this affects runtime across: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different k values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ALL vs Γ-invariant templates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This highlights a practical trade-off between: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fast constraint discovery</a:t>
            </a:r>
            <a:endParaRPr sz="8986">
              <a:latin typeface="Arial"/>
              <a:ea typeface="Arial"/>
              <a:cs typeface="Arial"/>
              <a:sym typeface="Arial"/>
            </a:endParaRPr>
          </a:p>
          <a:p>
            <a:pPr indent="-37126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8986">
                <a:latin typeface="Arial"/>
                <a:ea typeface="Arial"/>
                <a:cs typeface="Arial"/>
                <a:sym typeface="Arial"/>
              </a:rPr>
              <a:t>full diagnostic execution</a:t>
            </a:r>
            <a:endParaRPr sz="1523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B5394"/>
              </a:solidFill>
            </a:endParaRPr>
          </a:p>
          <a:p>
            <a:pPr indent="0" lvl="0" marL="45720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56" name="Google Shape;156;g3b5f24bda4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b5f24bda46_0_118"/>
          <p:cNvSpPr txBox="1"/>
          <p:nvPr>
            <p:ph type="title"/>
          </p:nvPr>
        </p:nvSpPr>
        <p:spPr>
          <a:xfrm>
            <a:off x="457200" y="8729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040">
                <a:solidFill>
                  <a:srgbClr val="0B5394"/>
                </a:solidFill>
              </a:rPr>
              <a:t>Additional investigation (beyond the paper)</a:t>
            </a:r>
            <a:endParaRPr sz="304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5f24bda46_0_125"/>
          <p:cNvSpPr txBox="1"/>
          <p:nvPr>
            <p:ph idx="1" type="body"/>
          </p:nvPr>
        </p:nvSpPr>
        <p:spPr>
          <a:xfrm>
            <a:off x="457200" y="1761294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19">
                <a:latin typeface="Arial"/>
                <a:ea typeface="Arial"/>
                <a:cs typeface="Arial"/>
                <a:sym typeface="Arial"/>
              </a:rPr>
              <a:t>Replication outcome</a:t>
            </a:r>
            <a:endParaRPr b="1" sz="9019">
              <a:latin typeface="Arial"/>
              <a:ea typeface="Arial"/>
              <a:cs typeface="Arial"/>
              <a:sym typeface="Arial"/>
            </a:endParaRPr>
          </a:p>
          <a:p>
            <a:pPr indent="-3717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We successfully replicated the quantitative evaluation (Tables 4 and 5)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-3717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The main scalability and diagnostic trends reported in the paper were confirmed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19">
                <a:latin typeface="Arial"/>
                <a:ea typeface="Arial"/>
                <a:cs typeface="Arial"/>
                <a:sym typeface="Arial"/>
              </a:rPr>
              <a:t>Limitations and future work</a:t>
            </a:r>
            <a:endParaRPr b="1" sz="9019">
              <a:latin typeface="Arial"/>
              <a:ea typeface="Arial"/>
              <a:cs typeface="Arial"/>
              <a:sym typeface="Arial"/>
            </a:endParaRPr>
          </a:p>
          <a:p>
            <a:pPr indent="-3717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Experiments were run on different hardware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-3717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Large k values lead to very long runtimes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-3717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Future work could include: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-3717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applying the approach to new datasets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-3717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9019">
                <a:latin typeface="Arial"/>
                <a:ea typeface="Arial"/>
                <a:cs typeface="Arial"/>
                <a:sym typeface="Arial"/>
              </a:rPr>
              <a:t>comparing with other conformance tools</a:t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19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5394"/>
                </a:solidFill>
              </a:rPr>
              <a:t>Winter semester 2025 </a:t>
            </a:r>
            <a:endParaRPr sz="8000">
              <a:solidFill>
                <a:srgbClr val="0B5394"/>
              </a:solidFill>
            </a:endParaRPr>
          </a:p>
        </p:txBody>
      </p:sp>
      <p:pic>
        <p:nvPicPr>
          <p:cNvPr id="163" name="Google Shape;163;g3b5f24bda46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9488"/>
            <a:ext cx="2005376" cy="13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b5f24bda46_0_125"/>
          <p:cNvSpPr txBox="1"/>
          <p:nvPr>
            <p:ph type="title"/>
          </p:nvPr>
        </p:nvSpPr>
        <p:spPr>
          <a:xfrm>
            <a:off x="457200" y="6198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>
                <a:solidFill>
                  <a:srgbClr val="0B5394"/>
                </a:solidFill>
              </a:rPr>
              <a:t>Conclusion &amp; Limitations</a:t>
            </a:r>
            <a:endParaRPr sz="36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